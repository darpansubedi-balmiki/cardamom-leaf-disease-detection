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9" r:id="rId20"/>
    <p:sldId id="28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799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1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53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757A-0198-435C-05BB-1CCFEE71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B67E5-D878-6455-BC2E-17116D966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C974E-4F2B-202A-F777-F0140266A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89244-73D6-4C96-14BD-313808203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6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838920"/>
            <a:ext cx="7715250" cy="292536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7678"/>
              </a:lnSpc>
              <a:spcBef>
                <a:spcPts val="41"/>
              </a:spcBef>
            </a:pPr>
            <a:r>
              <a:rPr lang="en-US" sz="8438" kern="0" spc="84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Cardamom Leaf</a:t>
            </a:r>
            <a:br>
              <a:rPr lang="en-US" sz="8438" kern="0" spc="84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8438" kern="0" spc="84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Disease Detection</a:t>
            </a:r>
            <a:br>
              <a:rPr lang="en-US" sz="8438" kern="0" spc="84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8438" kern="0" spc="84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Using Deep Learning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0" y="4789438"/>
            <a:ext cx="7334250" cy="301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376"/>
              </a:lnSpc>
              <a:spcBef>
                <a:spcPts val="195"/>
              </a:spcBef>
            </a:pPr>
            <a:r>
              <a:rPr lang="en-US" sz="1800" kern="0" spc="36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An Explainable AI Approach with EfficientNetV2 and Grad CAM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A close-up of a diseased cardamom leaf showing characteristic spots and discoloration"/>
          <p:cNvPicPr>
            <a:picLocks noChangeAspect="1"/>
          </p:cNvPicPr>
          <p:nvPr/>
        </p:nvPicPr>
        <p:blipFill>
          <a:blip r:embed="rId3"/>
          <a:srcRect l="22222" r="22222"/>
          <a:stretch/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91000" y="6104037"/>
            <a:ext cx="1328559" cy="20106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84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Darpan Subedi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91000" y="6404670"/>
            <a:ext cx="1304925" cy="2137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3"/>
              </a:lnSpc>
              <a:spcBef>
                <a:spcPts val="769"/>
              </a:spcBef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Student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72175" y="6104037"/>
            <a:ext cx="1300609" cy="20106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84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Mr. Raju Kattel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72175" y="6404670"/>
            <a:ext cx="1285875" cy="2137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3"/>
              </a:lnSpc>
              <a:spcBef>
                <a:spcPts val="769"/>
              </a:spcBef>
            </a:pPr>
            <a:r>
              <a:rPr lang="en-US" sz="1275" kern="0" spc="26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Supervisor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5875" y="0"/>
            <a:ext cx="3286125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3" name="Image 0" descr="A single cardamom plant with healthy green leaves."/>
          <p:cNvPicPr>
            <a:picLocks noChangeAspect="1"/>
          </p:cNvPicPr>
          <p:nvPr/>
        </p:nvPicPr>
        <p:blipFill>
          <a:blip r:embed="rId3"/>
          <a:srcRect l="18110" r="18110"/>
          <a:stretch/>
        </p:blipFill>
        <p:spPr>
          <a:xfrm>
            <a:off x="8905875" y="0"/>
            <a:ext cx="328612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550515"/>
            <a:ext cx="8010525" cy="5146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052"/>
              </a:lnSpc>
              <a:spcBef>
                <a:spcPts val="22"/>
              </a:spcBef>
            </a:pPr>
            <a:r>
              <a:rPr lang="en-US" sz="4453" kern="0" spc="45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Why Cardamom?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" y="1267867"/>
            <a:ext cx="8010525" cy="19109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505"/>
              </a:lnSpc>
              <a:spcBef>
                <a:spcPts val="1564"/>
              </a:spcBef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Source Sans Pro Black" pitchFamily="34" charset="0"/>
                <a:ea typeface="Source Sans Pro Black" pitchFamily="34" charset="-122"/>
                <a:cs typeface="Source Sans Pro Black" pitchFamily="34" charset="-120"/>
              </a:rPr>
              <a:t>Context: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6251" y="1691134"/>
            <a:ext cx="7326630" cy="10693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742950" lvl="1" indent="-285750">
              <a:lnSpc>
                <a:spcPts val="1655"/>
              </a:lnSpc>
              <a:spcBef>
                <a:spcPts val="1792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Nepal is an agricultural country: &gt;60% population depends on agriculture, ~24% GDP contribution.</a:t>
            </a:r>
            <a:endParaRPr lang="en-US" dirty="0"/>
          </a:p>
          <a:p>
            <a:pPr marL="742950" lvl="1" indent="-285750">
              <a:lnSpc>
                <a:spcPts val="1655"/>
              </a:lnSpc>
              <a:spcBef>
                <a:spcPts val="17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Large Cardamom (*Amomum subulatum*) is a key cash crop: Nepal is the world's 3</a:t>
            </a:r>
            <a:r>
              <a:rPr lang="en-US" sz="1567" baseline="30000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rd</a:t>
            </a: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 largest producer.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6250" y="3047256"/>
            <a:ext cx="8010525" cy="19109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505"/>
              </a:lnSpc>
              <a:spcBef>
                <a:spcPts val="2214"/>
              </a:spcBef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Source Sans Pro Black" pitchFamily="34" charset="0"/>
                <a:ea typeface="Source Sans Pro Black" pitchFamily="34" charset="-122"/>
                <a:cs typeface="Source Sans Pro Black" pitchFamily="34" charset="-120"/>
              </a:rPr>
              <a:t>Problem: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76251" y="3470523"/>
            <a:ext cx="7743190" cy="17369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698500" lvl="1" indent="-241300">
              <a:lnSpc>
                <a:spcPts val="1655"/>
              </a:lnSpc>
              <a:spcBef>
                <a:spcPts val="1792"/>
              </a:spcBef>
              <a:buSzPct val="100000"/>
              <a:buChar char="•"/>
            </a:pP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Cardamom cultivation threatened by fungal foliar diseases (Colletotrichum Blight, </a:t>
            </a:r>
            <a:r>
              <a:rPr lang="en-US" sz="1567" dirty="0" err="1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Phyllosticta</a:t>
            </a: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 Leaf Spot).</a:t>
            </a:r>
            <a:endParaRPr lang="en-US" dirty="0"/>
          </a:p>
          <a:p>
            <a:pPr marL="698500" lvl="1" indent="-241300">
              <a:lnSpc>
                <a:spcPts val="1655"/>
              </a:lnSpc>
              <a:spcBef>
                <a:spcPts val="1766"/>
              </a:spcBef>
              <a:buSzPct val="100000"/>
              <a:buChar char="•"/>
            </a:pP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Substantial yield losses and income reduction for farmers.</a:t>
            </a:r>
            <a:endParaRPr lang="en-US" dirty="0"/>
          </a:p>
          <a:p>
            <a:pPr marL="698500" lvl="1" indent="-241300">
              <a:lnSpc>
                <a:spcPts val="1655"/>
              </a:lnSpc>
              <a:spcBef>
                <a:spcPts val="1766"/>
              </a:spcBef>
              <a:buSzPct val="100000"/>
              <a:buChar char="•"/>
            </a:pP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Traditional diagnosis requires scarce, expensive, and geographically inaccessible experts.</a:t>
            </a:r>
            <a:endParaRPr lang="en-US" dirty="0"/>
          </a:p>
          <a:p>
            <a:pPr marL="698500" lvl="1" indent="-241300">
              <a:lnSpc>
                <a:spcPts val="1655"/>
              </a:lnSpc>
              <a:spcBef>
                <a:spcPts val="1766"/>
              </a:spcBef>
              <a:buSzPct val="100000"/>
              <a:buChar char="•"/>
            </a:pP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Early-stage disease identification is challenging visually.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6250" y="5494288"/>
            <a:ext cx="8010525" cy="19109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505"/>
              </a:lnSpc>
              <a:spcBef>
                <a:spcPts val="2214"/>
              </a:spcBef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Source Sans Pro Black" pitchFamily="34" charset="0"/>
                <a:ea typeface="Source Sans Pro Black" pitchFamily="34" charset="-122"/>
                <a:cs typeface="Source Sans Pro Black" pitchFamily="34" charset="-120"/>
              </a:rPr>
              <a:t>Intervention: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76251" y="5917555"/>
            <a:ext cx="6991350" cy="4202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698500" lvl="1" indent="-241300">
              <a:lnSpc>
                <a:spcPts val="1655"/>
              </a:lnSpc>
              <a:spcBef>
                <a:spcPts val="1792"/>
              </a:spcBef>
              <a:buSzPct val="100000"/>
              <a:buChar char="•"/>
            </a:pPr>
            <a:r>
              <a:rPr lang="en-US" sz="1567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Smartphone application for instant diagnosis, severity estimation, and treatment advice in Nepali.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79227"/>
            <a:ext cx="11334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Research Objectives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809750"/>
            <a:ext cx="447675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a checklist on a clipboard with a pen"/>
          <p:cNvPicPr>
            <a:picLocks noChangeAspect="1"/>
          </p:cNvPicPr>
          <p:nvPr/>
        </p:nvPicPr>
        <p:blipFill>
          <a:blip r:embed="rId3"/>
          <a:srcRect l="1042" r="1042"/>
          <a:stretch/>
        </p:blipFill>
        <p:spPr>
          <a:xfrm>
            <a:off x="476250" y="1809750"/>
            <a:ext cx="447675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144018"/>
            <a:ext cx="6393507" cy="39049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457200" indent="-457200">
              <a:lnSpc>
                <a:spcPts val="2059"/>
              </a:lnSpc>
              <a:buSzPct val="100000"/>
              <a:buAutoNum type="arabicPeriod"/>
            </a:pPr>
            <a:r>
              <a:rPr lang="en-US" sz="1950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To build and train high accuracy EfficientNetV2 - S classifier with transfer learning for four class cardamom leaf disease classification, targeting overall test accuracy above 85%.  </a:t>
            </a:r>
          </a:p>
          <a:p>
            <a:pPr marL="457200" indent="-457200">
              <a:lnSpc>
                <a:spcPts val="2059"/>
              </a:lnSpc>
              <a:buSzPct val="100000"/>
              <a:buAutoNum type="arabicPeriod"/>
            </a:pPr>
            <a:endParaRPr lang="en-US" sz="1950" dirty="0">
              <a:solidFill>
                <a:srgbClr val="FFFFFF">
                  <a:alpha val="90000"/>
                </a:srgbClr>
              </a:solidFill>
              <a:latin typeface="Source Sans Pro Semi Bold" pitchFamily="34" charset="0"/>
              <a:ea typeface="Source Sans Pro Semi Bold" pitchFamily="34" charset="-122"/>
              <a:cs typeface="Source Sans Pro Semi Bold" pitchFamily="34" charset="-120"/>
            </a:endParaRPr>
          </a:p>
          <a:p>
            <a:pPr marL="457200" indent="-457200">
              <a:lnSpc>
                <a:spcPts val="2059"/>
              </a:lnSpc>
              <a:buSzPct val="100000"/>
              <a:buAutoNum type="arabicPeriod"/>
            </a:pPr>
            <a:r>
              <a:rPr lang="en-US" sz="1950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To evaluate generally generalization, reliability, usability through 5-fold stratified cross-validation, held-out test evaluation, a background-removal ablation study, error analysis, and perturbation robustness testing under nine conditions.  </a:t>
            </a:r>
          </a:p>
          <a:p>
            <a:pPr marL="457200" indent="-457200">
              <a:lnSpc>
                <a:spcPts val="2059"/>
              </a:lnSpc>
              <a:buSzPct val="100000"/>
              <a:buAutoNum type="arabicPeriod"/>
            </a:pPr>
            <a:endParaRPr lang="en-US" sz="1950" dirty="0">
              <a:solidFill>
                <a:srgbClr val="FFFFFF">
                  <a:alpha val="90000"/>
                </a:srgbClr>
              </a:solidFill>
              <a:latin typeface="Source Sans Pro Semi Bold" pitchFamily="34" charset="0"/>
              <a:ea typeface="Source Sans Pro Semi Bold" pitchFamily="34" charset="-122"/>
              <a:cs typeface="Source Sans Pro Semi Bold" pitchFamily="34" charset="-120"/>
            </a:endParaRPr>
          </a:p>
          <a:p>
            <a:pPr marL="457200" indent="-457200">
              <a:lnSpc>
                <a:spcPts val="2059"/>
              </a:lnSpc>
              <a:buSzPct val="100000"/>
              <a:buAutoNum type="arabicPeriod"/>
            </a:pPr>
            <a:r>
              <a:rPr lang="en-US" sz="1950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To implement Grad CAM and Grad CAM++ visual explanations integrated on full stack deployment on both mobile and web applications.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79227"/>
            <a:ext cx="11334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Literature Review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107430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From PlantVillage to Cardamom: The Undeployed Research Problem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166938"/>
            <a:ext cx="2667000" cy="1881188"/>
          </a:xfrm>
          <a:prstGeom prst="rect">
            <a:avLst/>
          </a:prstGeom>
          <a:solidFill>
            <a:srgbClr val="466AAD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5" name="Text 3"/>
          <p:cNvSpPr/>
          <p:nvPr/>
        </p:nvSpPr>
        <p:spPr>
          <a:xfrm>
            <a:off x="762000" y="2676079"/>
            <a:ext cx="21907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Plant Disease Detection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762000" y="2931319"/>
            <a:ext cx="2190750" cy="5656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Extensive research using deep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learning (e.g., Mohanty et al.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2016, Thapa et al. 2020).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452563" y="1809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75489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8" name="Image 0" descr="-475a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989" y="1982762"/>
            <a:ext cx="266700" cy="3714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3750" y="2166938"/>
            <a:ext cx="2667000" cy="1881188"/>
          </a:xfrm>
          <a:prstGeom prst="rect">
            <a:avLst/>
          </a:prstGeom>
          <a:solidFill>
            <a:srgbClr val="507BB3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10" name="Text 7"/>
          <p:cNvSpPr/>
          <p:nvPr/>
        </p:nvSpPr>
        <p:spPr>
          <a:xfrm>
            <a:off x="3619500" y="2676079"/>
            <a:ext cx="21907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Real-World Conditions</a:t>
            </a:r>
            <a:endParaRPr lang="en-US" b="1" dirty="0"/>
          </a:p>
        </p:txBody>
      </p:sp>
      <p:sp>
        <p:nvSpPr>
          <p:cNvPr id="11" name="Text 8"/>
          <p:cNvSpPr/>
          <p:nvPr/>
        </p:nvSpPr>
        <p:spPr>
          <a:xfrm>
            <a:off x="3619500" y="2931319"/>
            <a:ext cx="2216944" cy="5656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Awareness of performance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degradation outside lab settings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(PlantDoc dataset).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10063" y="1809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6391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13" name="Image 1" descr="-3b18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932" y="2003692"/>
            <a:ext cx="285750" cy="3333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91250" y="2166938"/>
            <a:ext cx="2667000" cy="1881188"/>
          </a:xfrm>
          <a:prstGeom prst="rect">
            <a:avLst/>
          </a:prstGeom>
          <a:solidFill>
            <a:srgbClr val="5A8BB9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15" name="Text 11"/>
          <p:cNvSpPr/>
          <p:nvPr/>
        </p:nvSpPr>
        <p:spPr>
          <a:xfrm>
            <a:off x="6477000" y="2676079"/>
            <a:ext cx="21907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Transfer Learning</a:t>
            </a:r>
            <a:endParaRPr lang="en-US" b="1" dirty="0"/>
          </a:p>
        </p:txBody>
      </p:sp>
      <p:sp>
        <p:nvSpPr>
          <p:cNvPr id="16" name="Text 12"/>
          <p:cNvSpPr/>
          <p:nvPr/>
        </p:nvSpPr>
        <p:spPr>
          <a:xfrm>
            <a:off x="6477000" y="2931319"/>
            <a:ext cx="2190750" cy="5656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ImageNet pretraining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consistently beneficial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(Ferentinos 2018).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7167563" y="1809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3719D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18" name="Image 2" descr="-46bb14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945" y="2041361"/>
            <a:ext cx="361950" cy="2571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48750" y="2166938"/>
            <a:ext cx="2667000" cy="1881188"/>
          </a:xfrm>
          <a:prstGeom prst="rect">
            <a:avLst/>
          </a:prstGeom>
          <a:solidFill>
            <a:srgbClr val="649CBF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20" name="Text 15"/>
          <p:cNvSpPr/>
          <p:nvPr/>
        </p:nvSpPr>
        <p:spPr>
          <a:xfrm>
            <a:off x="9334500" y="2676079"/>
            <a:ext cx="2254448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 err="1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EfficientNet</a:t>
            </a: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 Architecture</a:t>
            </a:r>
            <a:endParaRPr lang="en-US" b="1" dirty="0"/>
          </a:p>
        </p:txBody>
      </p:sp>
      <p:sp>
        <p:nvSpPr>
          <p:cNvPr id="21" name="Text 16"/>
          <p:cNvSpPr/>
          <p:nvPr/>
        </p:nvSpPr>
        <p:spPr>
          <a:xfrm>
            <a:off x="9334500" y="2931319"/>
            <a:ext cx="2206675" cy="5656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EfficientNetV2 offers improved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training efficiency and accuracy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(Tan &amp; Le 2019, Atila et al. 2021).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0025063" y="1809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683AA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23" name="Image 3" descr="-71b81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1008" y="2032992"/>
            <a:ext cx="323850" cy="27622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76250" y="4500563"/>
            <a:ext cx="3619500" cy="1881188"/>
          </a:xfrm>
          <a:prstGeom prst="rect">
            <a:avLst/>
          </a:prstGeom>
          <a:solidFill>
            <a:srgbClr val="6DACC4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25" name="Text 19"/>
          <p:cNvSpPr/>
          <p:nvPr/>
        </p:nvSpPr>
        <p:spPr>
          <a:xfrm>
            <a:off x="762000" y="5009704"/>
            <a:ext cx="31432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Explainability</a:t>
            </a:r>
            <a:endParaRPr lang="en-US" b="1" dirty="0"/>
          </a:p>
        </p:txBody>
      </p:sp>
      <p:sp>
        <p:nvSpPr>
          <p:cNvPr id="26" name="Text 20"/>
          <p:cNvSpPr/>
          <p:nvPr/>
        </p:nvSpPr>
        <p:spPr>
          <a:xfrm>
            <a:off x="762000" y="5264944"/>
            <a:ext cx="3344614" cy="5656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Grad-CAM and Grad-CAM++ provide visual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heatmaps (Selvaraju et al. 2017, Chattopadhay et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al. 2018).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1928813" y="41433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997B5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28" name="Image 4" descr="-152e08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5311" y="4349873"/>
            <a:ext cx="304800" cy="3048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286250" y="4500563"/>
            <a:ext cx="3619500" cy="1881188"/>
          </a:xfrm>
          <a:prstGeom prst="rect">
            <a:avLst/>
          </a:prstGeom>
          <a:solidFill>
            <a:srgbClr val="77BDCA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30" name="Text 23"/>
          <p:cNvSpPr/>
          <p:nvPr/>
        </p:nvSpPr>
        <p:spPr>
          <a:xfrm>
            <a:off x="4572000" y="5009704"/>
            <a:ext cx="3309938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Key Research Gap (Sunil et al. 2022)</a:t>
            </a:r>
            <a:endParaRPr lang="en-US" b="1" dirty="0"/>
          </a:p>
        </p:txBody>
      </p:sp>
      <p:sp>
        <p:nvSpPr>
          <p:cNvPr id="31" name="Text 24"/>
          <p:cNvSpPr/>
          <p:nvPr/>
        </p:nvSpPr>
        <p:spPr>
          <a:xfrm>
            <a:off x="4572000" y="5264944"/>
            <a:ext cx="3333452" cy="7542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Achieved 98.26% accuracy on cardamom disease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using EfficientNetV2-L. Lacked deployment (no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UI/API), explainability, Nepali support, rigorous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evaluation, or reproducibility.</a:t>
            </a: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5738813" y="41433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2ABBC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33" name="Image 5" descr="76bbb5a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2753" y="4345685"/>
            <a:ext cx="333375" cy="31432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8096250" y="4500563"/>
            <a:ext cx="3619500" cy="1881188"/>
          </a:xfrm>
          <a:prstGeom prst="rect">
            <a:avLst/>
          </a:prstGeom>
          <a:solidFill>
            <a:srgbClr val="81CDD0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35" name="Text 27"/>
          <p:cNvSpPr/>
          <p:nvPr/>
        </p:nvSpPr>
        <p:spPr>
          <a:xfrm>
            <a:off x="8382000" y="5009704"/>
            <a:ext cx="31432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My System's Differentiation</a:t>
            </a:r>
            <a:endParaRPr lang="en-US" b="1" dirty="0"/>
          </a:p>
        </p:txBody>
      </p:sp>
      <p:sp>
        <p:nvSpPr>
          <p:cNvPr id="36" name="Text 28"/>
          <p:cNvSpPr/>
          <p:nvPr/>
        </p:nvSpPr>
        <p:spPr>
          <a:xfrm>
            <a:off x="8382000" y="5264944"/>
            <a:ext cx="3338959" cy="5656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Combines field data, explainability, 'Other' class,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multi-method eval, bilingual support, and full-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stack deployment.</a:t>
            </a:r>
            <a:endParaRPr lang="en-US" dirty="0"/>
          </a:p>
        </p:txBody>
      </p:sp>
      <p:sp>
        <p:nvSpPr>
          <p:cNvPr id="37" name="Shape 29"/>
          <p:cNvSpPr/>
          <p:nvPr/>
        </p:nvSpPr>
        <p:spPr>
          <a:xfrm>
            <a:off x="9548813" y="41433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CBEC2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38" name="Image 6" descr="-234db6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8568" y="4374989"/>
            <a:ext cx="342900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79227"/>
            <a:ext cx="11334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Dataset Details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107430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Four-Class Cardamom Leaf Dataset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809750"/>
            <a:ext cx="11239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-38ab8f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09750"/>
            <a:ext cx="11249025" cy="4581525"/>
          </a:xfrm>
          <a:prstGeom prst="rect">
            <a:avLst/>
          </a:prstGeom>
        </p:spPr>
      </p:pic>
      <p:pic>
        <p:nvPicPr>
          <p:cNvPr id="6" name="Image 1" descr="4eb3a7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809750"/>
            <a:ext cx="112395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809750"/>
            <a:ext cx="7491131" cy="96252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Class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967381" y="1809750"/>
            <a:ext cx="3748369" cy="96252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Images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76250" y="2772276"/>
            <a:ext cx="7491131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Colletotrichum Blight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967381" y="2772276"/>
            <a:ext cx="3748369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280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76250" y="3494171"/>
            <a:ext cx="7491131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Phyllosticta Leaf Spot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967381" y="3494171"/>
            <a:ext cx="3748369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663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4216066"/>
            <a:ext cx="7491131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Healthy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967381" y="4216066"/>
            <a:ext cx="3748369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781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6250" y="4937961"/>
            <a:ext cx="7491131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Other (Rejection)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967381" y="4937961"/>
            <a:ext cx="3748369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~883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6250" y="5659855"/>
            <a:ext cx="7491131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Total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967381" y="5659855"/>
            <a:ext cx="3748369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~2,607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5188" y="924704"/>
            <a:ext cx="6321623" cy="10834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Preprocessing Pipeline and</a:t>
            </a:r>
            <a:b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Data Augmentation Strategy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2094641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Enhancing Data Robustness and Model Generalization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3158430"/>
            <a:ext cx="4767580" cy="24196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59"/>
              </a:lnSpc>
              <a:buSzPct val="100000"/>
            </a:pPr>
            <a:r>
              <a:rPr lang="en-US" sz="195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Preprocessing Steps</a:t>
            </a:r>
            <a:endParaRPr lang="en-US" b="1" dirty="0"/>
          </a:p>
          <a:p>
            <a:pPr marL="571500" lvl="1" algn="l">
              <a:lnSpc>
                <a:spcPts val="1980"/>
              </a:lnSpc>
              <a:spcBef>
                <a:spcPts val="464"/>
              </a:spcBef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Resizing images to 224x224 pixels for EfficientNetV2-S compatibility and normalizing with ImageNet statistics.</a:t>
            </a:r>
            <a:endParaRPr lang="en-US" dirty="0"/>
          </a:p>
          <a:p>
            <a:pPr algn="l">
              <a:lnSpc>
                <a:spcPts val="2059"/>
              </a:lnSpc>
              <a:spcBef>
                <a:spcPts val="2072"/>
              </a:spcBef>
              <a:buSzPct val="100000"/>
            </a:pPr>
            <a:r>
              <a:rPr lang="en-US" sz="195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Data Augmentation (Training Set Only)</a:t>
            </a:r>
            <a:endParaRPr lang="en-US" b="1" dirty="0"/>
          </a:p>
          <a:p>
            <a:pPr marL="571500" lvl="1" algn="l">
              <a:lnSpc>
                <a:spcPts val="1980"/>
              </a:lnSpc>
              <a:spcBef>
                <a:spcPts val="464"/>
              </a:spcBef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To simulate real-world variability, employed Random Horizontal &amp; Vertical Flip, Random Rotation (±30°), </a:t>
            </a:r>
            <a:r>
              <a:rPr lang="en-US" sz="1500" kern="0" spc="30" dirty="0" err="1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ColorJitter</a:t>
            </a: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, and Random Affine Translation.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3158430"/>
            <a:ext cx="5105251" cy="108570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59"/>
              </a:lnSpc>
              <a:buSzPct val="100000"/>
            </a:pPr>
            <a:r>
              <a:rPr lang="en-US" sz="195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Methodological Choice: Training Set</a:t>
            </a:r>
            <a:br>
              <a:rPr lang="en-US" sz="195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</a:br>
            <a:r>
              <a:rPr lang="en-US" sz="195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Exclusion</a:t>
            </a:r>
            <a:endParaRPr lang="en-US" b="1" dirty="0"/>
          </a:p>
          <a:p>
            <a:pPr marL="571500" lvl="1" algn="l">
              <a:lnSpc>
                <a:spcPts val="1980"/>
              </a:lnSpc>
              <a:spcBef>
                <a:spcPts val="464"/>
              </a:spcBef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Data augmentation is applied exclusively to the training set to prevent bias in evaluation metrics.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6250" y="787718"/>
            <a:ext cx="9510713" cy="10834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266"/>
              </a:lnSpc>
              <a:spcBef>
                <a:spcPts val="2687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EfficientNetV2-S with Custom Classification</a:t>
            </a:r>
            <a:b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Head — Architecture Design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2026116"/>
            <a:ext cx="10944969" cy="103712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482600" lvl="1" indent="-241300" algn="l">
              <a:lnSpc>
                <a:spcPts val="1980"/>
              </a:lnSpc>
              <a:spcBef>
                <a:spcPts val="1041"/>
              </a:spcBef>
              <a:buSzPct val="100000"/>
              <a:buChar char="•"/>
            </a:pPr>
            <a:r>
              <a:rPr lang="en-US" sz="1500" b="1" kern="0" spc="30" dirty="0">
                <a:solidFill>
                  <a:srgbClr val="FFFFFF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Model Choice Justification:</a:t>
            </a: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 Chosen over V1 V2-L (118M parameters) for superior parameter efficiency and deployment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suitability, with comparable accuracy on ImageNet and task-specific tasks.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58F3467-A545-DE19-3B4C-226CBC314192}"/>
              </a:ext>
            </a:extLst>
          </p:cNvPr>
          <p:cNvSpPr/>
          <p:nvPr/>
        </p:nvSpPr>
        <p:spPr>
          <a:xfrm>
            <a:off x="476250" y="3540978"/>
            <a:ext cx="9510713" cy="10834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266"/>
              </a:lnSpc>
              <a:spcBef>
                <a:spcPts val="2687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Training Configuration</a:t>
            </a:r>
            <a:endParaRPr lang="en-US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C1C8F69-5164-2217-F57F-7EE00A1656CF}"/>
              </a:ext>
            </a:extLst>
          </p:cNvPr>
          <p:cNvSpPr/>
          <p:nvPr/>
        </p:nvSpPr>
        <p:spPr>
          <a:xfrm>
            <a:off x="476249" y="4583622"/>
            <a:ext cx="10944969" cy="16800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482600" lvl="1" indent="-241300">
              <a:lnSpc>
                <a:spcPts val="1980"/>
              </a:lnSpc>
              <a:spcBef>
                <a:spcPts val="1041"/>
              </a:spcBef>
              <a:buSzPct val="100000"/>
              <a:buFontTx/>
              <a:buChar char="•"/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 schedular named </a:t>
            </a:r>
            <a:r>
              <a:rPr lang="en-US" sz="1500" b="1" kern="0" spc="30" dirty="0" err="1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ReduceLROnPlateau</a:t>
            </a: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 was used for training optimization.</a:t>
            </a:r>
          </a:p>
          <a:p>
            <a:pPr marL="482600" lvl="1" indent="-241300">
              <a:lnSpc>
                <a:spcPts val="1980"/>
              </a:lnSpc>
              <a:spcBef>
                <a:spcPts val="1041"/>
              </a:spcBef>
              <a:buSzPct val="100000"/>
              <a:buFontTx/>
              <a:buChar char="•"/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Random seed of 42 was fixed along with data split, partitioning, and initialization for reproducibility.</a:t>
            </a:r>
          </a:p>
          <a:p>
            <a:pPr marL="482600" lvl="1" indent="-241300">
              <a:lnSpc>
                <a:spcPts val="1980"/>
              </a:lnSpc>
              <a:spcBef>
                <a:spcPts val="1041"/>
              </a:spcBef>
              <a:buSzPct val="100000"/>
              <a:buFontTx/>
              <a:buChar char="•"/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</a:rPr>
              <a:t>Apple MPS GPU Support was used to accelerate the training the model.</a:t>
            </a:r>
            <a:endParaRPr lang="en-US" sz="1600" dirty="0"/>
          </a:p>
          <a:p>
            <a:pPr marL="482600" lvl="1" indent="-241300">
              <a:lnSpc>
                <a:spcPts val="1980"/>
              </a:lnSpc>
              <a:spcBef>
                <a:spcPts val="1041"/>
              </a:spcBef>
              <a:buSzPct val="100000"/>
              <a:buFontTx/>
              <a:buChar char="•"/>
            </a:pPr>
            <a:endParaRPr lang="en-US" sz="1500" kern="0" spc="30" dirty="0">
              <a:solidFill>
                <a:srgbClr val="FFFFFF">
                  <a:alpha val="80000"/>
                </a:srgbClr>
              </a:solidFill>
              <a:latin typeface="Source Sans Pro Regular" pitchFamily="34" charset="0"/>
              <a:ea typeface="Source Sans Pro Regular" pitchFamily="34" charset="-122"/>
              <a:cs typeface="Source Sans Pro Regular" pitchFamily="34" charset="-120"/>
            </a:endParaRPr>
          </a:p>
          <a:p>
            <a:pPr marL="482600" lvl="1" indent="-241300">
              <a:lnSpc>
                <a:spcPts val="1980"/>
              </a:lnSpc>
              <a:spcBef>
                <a:spcPts val="1041"/>
              </a:spcBef>
              <a:buSzPct val="100000"/>
              <a:buFontTx/>
              <a:buChar char="•"/>
            </a:pPr>
            <a:endParaRPr lang="en-US" sz="1500" kern="0" spc="30" dirty="0">
              <a:solidFill>
                <a:srgbClr val="FFFFFF">
                  <a:alpha val="80000"/>
                </a:srgbClr>
              </a:solidFill>
              <a:latin typeface="Source Sans Pro Regular" pitchFamily="34" charset="0"/>
              <a:ea typeface="Source Sans Pro Regular" pitchFamily="34" charset="-122"/>
              <a:cs typeface="Source Sans Pro Regular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479227"/>
            <a:ext cx="11715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System Architecture: Three-Tier Client–Server Design</a:t>
            </a:r>
            <a:endParaRPr lang="en-US" dirty="0"/>
          </a:p>
        </p:txBody>
      </p:sp>
      <p:pic>
        <p:nvPicPr>
          <p:cNvPr id="3" name="Image 0" descr="636a6d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40968"/>
            <a:ext cx="3876675" cy="1190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125" y="3255556"/>
            <a:ext cx="3301901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901"/>
              </a:lnSpc>
            </a:pPr>
            <a:r>
              <a:rPr lang="en-US" sz="180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Model Tier (Backend)</a:t>
            </a:r>
            <a:endParaRPr lang="en-US" b="1" dirty="0"/>
          </a:p>
        </p:txBody>
      </p:sp>
      <p:sp>
        <p:nvSpPr>
          <p:cNvPr id="5" name="Text 2"/>
          <p:cNvSpPr/>
          <p:nvPr/>
        </p:nvSpPr>
        <p:spPr>
          <a:xfrm>
            <a:off x="762000" y="4057442"/>
            <a:ext cx="3513475" cy="10054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80"/>
              </a:lnSpc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EfficientNetV2-S PyTorch model. Grad-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CAM / Grad-CAM++ implementation.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Severity estimation module. (Ablation: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rembg U²-Net background removal).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174825" y="250284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75489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7" name="Image 1" descr="362419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140" y="2612603"/>
            <a:ext cx="123825" cy="247650"/>
          </a:xfrm>
          <a:prstGeom prst="rect">
            <a:avLst/>
          </a:prstGeom>
        </p:spPr>
      </p:pic>
      <p:pic>
        <p:nvPicPr>
          <p:cNvPr id="8" name="Image 2" descr="6b0614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151" y="2740968"/>
            <a:ext cx="3876675" cy="11906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87875" y="3255556"/>
            <a:ext cx="3016151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901"/>
              </a:lnSpc>
            </a:pPr>
            <a:r>
              <a:rPr lang="en-US" sz="180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API Tier (Backend)</a:t>
            </a:r>
            <a:endParaRPr lang="en-US" b="1" dirty="0"/>
          </a:p>
        </p:txBody>
      </p:sp>
      <p:sp>
        <p:nvSpPr>
          <p:cNvPr id="10" name="Text 5"/>
          <p:cNvSpPr/>
          <p:nvPr/>
        </p:nvSpPr>
        <p:spPr>
          <a:xfrm>
            <a:off x="4445000" y="4057442"/>
            <a:ext cx="3301901" cy="10054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80"/>
              </a:lnSpc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FastAPI REST API (Uvicorn server).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Endpoints: /predict (POST), /health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(GET). Pydantic for data validation.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Tested rigorously with Postman.</a:t>
            </a:r>
            <a:endParaRPr lang="en-US" dirty="0"/>
          </a:p>
        </p:txBody>
      </p:sp>
      <p:sp>
        <p:nvSpPr>
          <p:cNvPr id="11" name="Shape 6"/>
          <p:cNvSpPr/>
          <p:nvPr/>
        </p:nvSpPr>
        <p:spPr>
          <a:xfrm>
            <a:off x="5857726" y="250284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63A5E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12" name="Image 3" descr="-5d71e8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2603" y="2620974"/>
            <a:ext cx="209550" cy="247650"/>
          </a:xfrm>
          <a:prstGeom prst="rect">
            <a:avLst/>
          </a:prstGeom>
        </p:spPr>
      </p:pic>
      <p:pic>
        <p:nvPicPr>
          <p:cNvPr id="13" name="Image 4" descr="6b79cd6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2200" y="2740968"/>
            <a:ext cx="3876675" cy="11906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70875" y="3255556"/>
            <a:ext cx="3016151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901"/>
              </a:lnSpc>
            </a:pPr>
            <a:r>
              <a:rPr lang="en-US" sz="180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Client Tier (Frontend)</a:t>
            </a:r>
            <a:endParaRPr lang="en-US" b="1" dirty="0"/>
          </a:p>
        </p:txBody>
      </p:sp>
      <p:sp>
        <p:nvSpPr>
          <p:cNvPr id="15" name="Text 8"/>
          <p:cNvSpPr/>
          <p:nvPr/>
        </p:nvSpPr>
        <p:spPr>
          <a:xfrm>
            <a:off x="8128000" y="4057442"/>
            <a:ext cx="3301901" cy="12568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80"/>
              </a:lnSpc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React TypeScript Web Application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(design complete, implementation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pending). React Native Mobile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Application (design complete,</a:t>
            </a:r>
            <a:b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implementation pending).</a:t>
            </a:r>
            <a:endParaRPr lang="en-US" dirty="0"/>
          </a:p>
        </p:txBody>
      </p:sp>
      <p:sp>
        <p:nvSpPr>
          <p:cNvPr id="16" name="Shape 9"/>
          <p:cNvSpPr/>
          <p:nvPr/>
        </p:nvSpPr>
        <p:spPr>
          <a:xfrm>
            <a:off x="9540776" y="250284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1F33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17" name="Image 5" descr="-21e1c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0070" y="2654461"/>
            <a:ext cx="2286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9065" y="479227"/>
            <a:ext cx="7153870" cy="10834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Explainability Engine: Grad-CAM</a:t>
            </a:r>
            <a:b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and Grad-CAM++ Implementation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649164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Core Principle: Building trust through visual explanations.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352675"/>
            <a:ext cx="4476750" cy="40290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heat map analytics data"/>
          <p:cNvPicPr>
            <a:picLocks noChangeAspect="1"/>
          </p:cNvPicPr>
          <p:nvPr/>
        </p:nvPicPr>
        <p:blipFill>
          <a:blip r:embed="rId3"/>
          <a:srcRect t="2995" b="2995"/>
          <a:stretch/>
        </p:blipFill>
        <p:spPr>
          <a:xfrm>
            <a:off x="476250" y="2352675"/>
            <a:ext cx="4476750" cy="4029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1" y="2334964"/>
            <a:ext cx="6115050" cy="40656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571500" lvl="1" algn="l">
              <a:spcBef>
                <a:spcPts val="418"/>
              </a:spcBef>
            </a:pPr>
            <a:r>
              <a:rPr lang="en-US" sz="2000" kern="0" spc="27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Heatmaps are bilinearly upsampled, color-mapped (Jet), and composited at 50% opacity. The final output is Base64 encoded and included in the API response.</a:t>
            </a:r>
          </a:p>
          <a:p>
            <a:pPr marL="571500" lvl="1" algn="l">
              <a:spcBef>
                <a:spcPts val="418"/>
              </a:spcBef>
            </a:pPr>
            <a:endParaRPr lang="en-US" sz="2000" dirty="0"/>
          </a:p>
          <a:p>
            <a:pPr marL="571500" lvl="1" algn="l">
              <a:spcBef>
                <a:spcPts val="418"/>
              </a:spcBef>
            </a:pPr>
            <a:r>
              <a:rPr lang="en-US" sz="2000" kern="0" spc="27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 module in `backend/app/utils/severity.py` binarizes heatmaps (threshold 0.60) and measures the proportion of activated pixels. This is mapped to a 5-stage severity scale (0: Healthy to 4: Very Severe).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3791" y="479227"/>
            <a:ext cx="8684419" cy="10834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000000">
                    <a:alpha val="8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Training Behavior — Loss and Accuracy</a:t>
            </a:r>
            <a:br>
              <a:rPr lang="en-US" sz="4688" kern="0" spc="47" dirty="0">
                <a:solidFill>
                  <a:srgbClr val="000000">
                    <a:alpha val="8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4688" kern="0" spc="47" dirty="0">
                <a:solidFill>
                  <a:srgbClr val="000000">
                    <a:alpha val="8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Convergence Over 50 Epochs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649164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Figures 3 &amp; 4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352675"/>
            <a:ext cx="11239500" cy="308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7b56ac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162175"/>
            <a:ext cx="11620500" cy="3467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915025"/>
            <a:ext cx="12192000" cy="942975"/>
          </a:xfrm>
          <a:prstGeom prst="rect">
            <a:avLst/>
          </a:prstGeom>
          <a:solidFill>
            <a:srgbClr val="F3F7F1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7" name="Text 4"/>
          <p:cNvSpPr/>
          <p:nvPr/>
        </p:nvSpPr>
        <p:spPr>
          <a:xfrm>
            <a:off x="1814513" y="6157317"/>
            <a:ext cx="8562975" cy="4423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742"/>
              </a:lnSpc>
            </a:pPr>
            <a:r>
              <a:rPr lang="en-US" sz="1650" dirty="0">
                <a:solidFill>
                  <a:srgbClr val="000000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Training and validation metrics show convergence without divergence, indicating effective</a:t>
            </a:r>
            <a:br>
              <a:rPr lang="en-US" sz="1650" dirty="0">
                <a:solidFill>
                  <a:srgbClr val="000000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</a:br>
            <a:r>
              <a:rPr lang="en-US" sz="1650" dirty="0">
                <a:solidFill>
                  <a:srgbClr val="000000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training and no overfitting. Best checkpoint saved based on minimum validation loss.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817" y="479227"/>
            <a:ext cx="11688366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Test Set Evaluation: Near-Perfect Confusion Matrix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107430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390/391 Correct (Figure 5)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809750"/>
            <a:ext cx="11239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-58cfa9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09750"/>
            <a:ext cx="11249025" cy="4581525"/>
          </a:xfrm>
          <a:prstGeom prst="rect">
            <a:avLst/>
          </a:prstGeom>
        </p:spPr>
      </p:pic>
      <p:pic>
        <p:nvPicPr>
          <p:cNvPr id="6" name="Image 1" descr="264331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809750"/>
            <a:ext cx="112395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809750"/>
            <a:ext cx="2090802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567052" y="1809750"/>
            <a:ext cx="2819484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Predicted Colletotrichum Blight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386537" y="1809750"/>
            <a:ext cx="1825209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Predicted Healthy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211745" y="1809750"/>
            <a:ext cx="1676288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Predicted Other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888034" y="1809750"/>
            <a:ext cx="2827716" cy="114300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Predicted Phyllosticta Leaf Spot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6250" y="2952750"/>
            <a:ext cx="2090802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Colletotrichum Blight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3810000"/>
            <a:ext cx="2090802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Healthy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6250" y="4667250"/>
            <a:ext cx="2090802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Other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6250" y="5524500"/>
            <a:ext cx="2090802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Phyllosticta Leaf Spot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567052" y="2952750"/>
            <a:ext cx="2819484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90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386537" y="3810000"/>
            <a:ext cx="1825209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83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211745" y="4667250"/>
            <a:ext cx="1676288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125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888034" y="5524500"/>
            <a:ext cx="2827716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92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8888034" y="3810000"/>
            <a:ext cx="2827716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567052" y="3810000"/>
            <a:ext cx="2819484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2567052" y="4667250"/>
            <a:ext cx="2819484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2567052" y="5524500"/>
            <a:ext cx="2819484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386537" y="2952750"/>
            <a:ext cx="1825209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386537" y="4667250"/>
            <a:ext cx="1825209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5386537" y="5524500"/>
            <a:ext cx="1825209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211745" y="2952750"/>
            <a:ext cx="1676288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7211745" y="3810000"/>
            <a:ext cx="1676288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7211745" y="5524500"/>
            <a:ext cx="1676288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8888034" y="2952750"/>
            <a:ext cx="2827716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8888034" y="4667250"/>
            <a:ext cx="2827716" cy="85725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79227"/>
            <a:ext cx="11334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Per-Class Precision, Recall, and F1-Score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107430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All Classes Exceed Acceptance Criteria (Figure 6)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809750"/>
            <a:ext cx="11239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-7343d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09750"/>
            <a:ext cx="11249025" cy="4581525"/>
          </a:xfrm>
          <a:prstGeom prst="rect">
            <a:avLst/>
          </a:prstGeom>
        </p:spPr>
      </p:pic>
      <p:pic>
        <p:nvPicPr>
          <p:cNvPr id="6" name="Image 1" descr="-186bb6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809750"/>
            <a:ext cx="112395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809750"/>
            <a:ext cx="2488463" cy="96252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964713" y="1809750"/>
            <a:ext cx="2396076" cy="96252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Precision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360789" y="1809750"/>
            <a:ext cx="1144436" cy="96252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Recall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505224" y="1809750"/>
            <a:ext cx="1375768" cy="96252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F1-Score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880992" y="1809750"/>
            <a:ext cx="3834758" cy="962526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Notes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6250" y="2772276"/>
            <a:ext cx="2488463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Colletotrichum Blight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964713" y="2772276"/>
            <a:ext cx="239607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360789" y="2772276"/>
            <a:ext cx="114443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505224" y="2772276"/>
            <a:ext cx="137576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880992" y="2772276"/>
            <a:ext cx="383475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76250" y="3494171"/>
            <a:ext cx="2488463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Healthy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964713" y="3494171"/>
            <a:ext cx="239607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360789" y="3494171"/>
            <a:ext cx="114443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0.988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505224" y="3494171"/>
            <a:ext cx="137576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0.994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880992" y="3494171"/>
            <a:ext cx="383475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 misclassification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76250" y="4216066"/>
            <a:ext cx="2488463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Other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964713" y="4216066"/>
            <a:ext cx="239607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360789" y="4216066"/>
            <a:ext cx="114443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505224" y="4216066"/>
            <a:ext cx="137576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7880992" y="4216066"/>
            <a:ext cx="383475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rejection class works perfectly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76250" y="4937961"/>
            <a:ext cx="2488463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Phyllosticta Leaf Spot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964713" y="4937961"/>
            <a:ext cx="239607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0.989</a:t>
            </a: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360789" y="4937961"/>
            <a:ext cx="114443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505224" y="4937961"/>
            <a:ext cx="137576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0.995</a:t>
            </a: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7880992" y="4937961"/>
            <a:ext cx="383475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 False Positive from Healthy</a:t>
            </a: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76250" y="5659855"/>
            <a:ext cx="2488463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Minimum F1 Score</a:t>
            </a: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2964713" y="5659855"/>
            <a:ext cx="239607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0.994 (Healthy class)</a:t>
            </a: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360789" y="5659855"/>
            <a:ext cx="1144436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6505224" y="5659855"/>
            <a:ext cx="137576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7880992" y="5659855"/>
            <a:ext cx="3834758" cy="72189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Exceeds 0.70 acceptance criterion by over 0.29 F1 points.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79227"/>
            <a:ext cx="11334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5-Fold Stratified Cross-Validation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107430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Consistent Generalization Across All Partitions (Table 8)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809750"/>
            <a:ext cx="11239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2f743a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09750"/>
            <a:ext cx="11249025" cy="4581525"/>
          </a:xfrm>
          <a:prstGeom prst="rect">
            <a:avLst/>
          </a:prstGeom>
        </p:spPr>
      </p:pic>
      <p:pic>
        <p:nvPicPr>
          <p:cNvPr id="6" name="Image 1" descr="77afd2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809750"/>
            <a:ext cx="112395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809750"/>
            <a:ext cx="2828517" cy="1406769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304767" y="1809750"/>
            <a:ext cx="1682197" cy="1406769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Fold 1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986963" y="1809750"/>
            <a:ext cx="1682197" cy="1406769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Fold 2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669160" y="1809750"/>
            <a:ext cx="1682197" cy="1406769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Fold 3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351357" y="1809750"/>
            <a:ext cx="1682197" cy="1406769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Fold 4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0033553" y="1809750"/>
            <a:ext cx="1682197" cy="1406769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Fold 5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3216519"/>
            <a:ext cx="282851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Accuracy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304767" y="3216519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986963" y="3216519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669160" y="3216519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8351357" y="3216519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0033553" y="3216519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76250" y="4271596"/>
            <a:ext cx="282851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Macro F1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304767" y="4271596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986963" y="4271596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669160" y="4271596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8351357" y="4271596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0033553" y="4271596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76250" y="5326673"/>
            <a:ext cx="282851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Standard Deviation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304767" y="5326673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0.00%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986963" y="5326673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0.00%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669160" y="5326673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0.00%</a:t>
            </a: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8351357" y="5326673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0.00%</a:t>
            </a: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10033553" y="5326673"/>
            <a:ext cx="1682197" cy="105507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0.00%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4366" y="479227"/>
            <a:ext cx="7103269" cy="10834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Ablation Study: Background</a:t>
            </a:r>
            <a:b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Removal Degrades Performance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649164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 Counterintuitive Finding (Table 9)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352675"/>
            <a:ext cx="11239500" cy="40290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0aeaf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52675"/>
            <a:ext cx="11249025" cy="4038600"/>
          </a:xfrm>
          <a:prstGeom prst="rect">
            <a:avLst/>
          </a:prstGeom>
        </p:spPr>
      </p:pic>
      <p:pic>
        <p:nvPicPr>
          <p:cNvPr id="6" name="Image 1" descr="-6025ce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52675"/>
            <a:ext cx="11239500" cy="40290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2352675"/>
            <a:ext cx="3366009" cy="12397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Condition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842259" y="2352675"/>
            <a:ext cx="3383611" cy="12397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Overall Accuracy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225871" y="2352675"/>
            <a:ext cx="4489879" cy="12397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Colletotrichum Blight F1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76250" y="3592390"/>
            <a:ext cx="3366009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 (Raw)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842259" y="3592390"/>
            <a:ext cx="3383611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99.74%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225871" y="3592390"/>
            <a:ext cx="4489879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1.000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4522177"/>
            <a:ext cx="3366009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B (BG-Removed)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842259" y="4522177"/>
            <a:ext cx="3383611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94.12%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225871" y="4522177"/>
            <a:ext cx="4489879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0.861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76250" y="5451963"/>
            <a:ext cx="3366009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Degradation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842259" y="5451963"/>
            <a:ext cx="3383611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5.62 pp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225871" y="5451963"/>
            <a:ext cx="4489879" cy="92978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79227"/>
            <a:ext cx="11334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Robustness Under Nine Perturbation Conditions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107430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Blur is the Critical Vulnerability (Table 10)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809750"/>
            <a:ext cx="11239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6e6844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09750"/>
            <a:ext cx="11249025" cy="4581525"/>
          </a:xfrm>
          <a:prstGeom prst="rect">
            <a:avLst/>
          </a:prstGeom>
        </p:spPr>
      </p:pic>
      <p:pic>
        <p:nvPicPr>
          <p:cNvPr id="6" name="Image 1" descr="-623698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809750"/>
            <a:ext cx="112395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809750"/>
            <a:ext cx="3436285" cy="65314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Condition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912535" y="1809750"/>
            <a:ext cx="1638785" cy="65314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Accuracy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551320" y="1809750"/>
            <a:ext cx="1668782" cy="65314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Change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220102" y="1809750"/>
            <a:ext cx="4495648" cy="65314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Notes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76250" y="2462893"/>
            <a:ext cx="34362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Highly Robust To: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912535" y="2462893"/>
            <a:ext cx="16387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551320" y="2462893"/>
            <a:ext cx="1668782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220102" y="2462893"/>
            <a:ext cx="4495648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76250" y="2952750"/>
            <a:ext cx="34362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Low Brightness (×0.4, ×0.2)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220102" y="2952750"/>
            <a:ext cx="4495648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Due to Color Jitter training.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6250" y="3442607"/>
            <a:ext cx="34362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Rotation (±45°)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220102" y="3442607"/>
            <a:ext cx="4495648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Generalizes beyond training augmentation.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76250" y="3932464"/>
            <a:ext cx="34362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Center Crop (75%)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220102" y="3932464"/>
            <a:ext cx="4495648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Partial framing acceptable.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6250" y="4422321"/>
            <a:ext cx="34362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Critically Vulnerable To: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912535" y="4422321"/>
            <a:ext cx="16387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5551320" y="4422321"/>
            <a:ext cx="1668782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7220102" y="4422321"/>
            <a:ext cx="4495648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476250" y="4912179"/>
            <a:ext cx="34362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Gaussian Blur (Radius 3)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912535" y="4912179"/>
            <a:ext cx="16387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73.66%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551320" y="4912179"/>
            <a:ext cx="1668782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-26.09 pp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76250" y="5402036"/>
            <a:ext cx="34362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Gaussian Blur (Radius 5)</a:t>
            </a: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912535" y="5402036"/>
            <a:ext cx="16387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47.83%</a:t>
            </a: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551320" y="5402036"/>
            <a:ext cx="1668782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-51.92 pp</a:t>
            </a: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76250" y="5891893"/>
            <a:ext cx="34362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Gaussian Noise (σ=0.20)</a:t>
            </a: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912535" y="5891893"/>
            <a:ext cx="16387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52.94%</a:t>
            </a: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5551320" y="5891893"/>
            <a:ext cx="1668782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-46.80 pp</a:t>
            </a: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912535" y="2952750"/>
            <a:ext cx="16387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3912535" y="3442607"/>
            <a:ext cx="16387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3912535" y="3932464"/>
            <a:ext cx="1638785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5551320" y="2952750"/>
            <a:ext cx="1668782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5551320" y="3442607"/>
            <a:ext cx="1668782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39" name="Text 35"/>
          <p:cNvSpPr/>
          <p:nvPr/>
        </p:nvSpPr>
        <p:spPr>
          <a:xfrm>
            <a:off x="5551320" y="3932464"/>
            <a:ext cx="1668782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40" name="Text 36"/>
          <p:cNvSpPr/>
          <p:nvPr/>
        </p:nvSpPr>
        <p:spPr>
          <a:xfrm>
            <a:off x="7220102" y="4912179"/>
            <a:ext cx="4495648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41" name="Text 37"/>
          <p:cNvSpPr/>
          <p:nvPr/>
        </p:nvSpPr>
        <p:spPr>
          <a:xfrm>
            <a:off x="7220102" y="5402036"/>
            <a:ext cx="4495648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  <p:sp>
        <p:nvSpPr>
          <p:cNvPr id="42" name="Text 38"/>
          <p:cNvSpPr/>
          <p:nvPr/>
        </p:nvSpPr>
        <p:spPr>
          <a:xfrm>
            <a:off x="7220102" y="5891893"/>
            <a:ext cx="4495648" cy="489857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4334" y="479227"/>
            <a:ext cx="6663333" cy="162520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Head-to-Head Comparison:</a:t>
            </a:r>
            <a:b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This Study vs. Sunil et al.</a:t>
            </a:r>
            <a:b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</a:b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(2022)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2190899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Table 12: Detailed Feature Analysis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886075"/>
            <a:ext cx="11239500" cy="34956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0fa46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11291"/>
            <a:ext cx="11249025" cy="3857625"/>
          </a:xfrm>
          <a:prstGeom prst="rect">
            <a:avLst/>
          </a:prstGeom>
        </p:spPr>
      </p:pic>
      <p:pic>
        <p:nvPicPr>
          <p:cNvPr id="6" name="Image 1" descr="38371b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711291"/>
            <a:ext cx="11239500" cy="384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2886075"/>
            <a:ext cx="2935489" cy="45105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Feature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411739" y="2886075"/>
            <a:ext cx="3967364" cy="45105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Sunil et al. (2022)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379103" y="2711291"/>
            <a:ext cx="4336647" cy="49616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This Study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76250" y="3337130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Accuracy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411739" y="3337130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98.26% (3 classes)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379103" y="3207452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99.74% (4 classes)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3675421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Cross-Validation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411739" y="3675421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Not Reported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379103" y="3579572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100.00% ± 0.00%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76250" y="4013712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Model Scale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411739" y="4013712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EfficientNetV2-L (118M params)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379103" y="3951692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EfficientNetV2-S (21.5M params)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76250" y="4352003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Background Removal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411739" y="4352003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Beneficial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379103" y="4323812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Detrimental (-5.62 pp)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76250" y="4690294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Explainability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411739" y="4690294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None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379103" y="4695933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Grad-CAM / Grad-CAM++ Integrated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76250" y="5028585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Severity Estimation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411739" y="5028585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None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379103" y="5068053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Heuristic Module Included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76250" y="5366877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Deployment</a:t>
            </a: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411739" y="5366877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None</a:t>
            </a: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7379103" y="5440173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Full FastAPI Backend Tested</a:t>
            </a: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76250" y="5705168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Language</a:t>
            </a: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411739" y="5705168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English Only</a:t>
            </a: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379103" y="5812293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Bilingual (English &amp;amp; Nepali)</a:t>
            </a: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76250" y="6043459"/>
            <a:ext cx="2935489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Reproducibility</a:t>
            </a: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3411739" y="6043459"/>
            <a:ext cx="3967364" cy="338291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No Artifacts</a:t>
            </a: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379103" y="6184414"/>
            <a:ext cx="4336647" cy="37212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lang="en-US" sz="2000" dirty="0">
                <a:solidFill>
                  <a:srgbClr val="000000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Open-Source GitHub Repository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79227"/>
            <a:ext cx="11334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Acknowledged Limitations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107430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Scientific Honesty in Research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047875"/>
            <a:ext cx="3619500" cy="2000250"/>
          </a:xfrm>
          <a:prstGeom prst="rect">
            <a:avLst/>
          </a:prstGeom>
          <a:solidFill>
            <a:srgbClr val="466AAD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5" name="Text 3"/>
          <p:cNvSpPr/>
          <p:nvPr/>
        </p:nvSpPr>
        <p:spPr>
          <a:xfrm>
            <a:off x="762000" y="2437954"/>
            <a:ext cx="3143250" cy="3920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Dataset Provenance and</a:t>
            </a:r>
            <a:b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</a:b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Generalization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762000" y="2889200"/>
            <a:ext cx="3260527" cy="7542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All primary disease images are from a single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Kaggle dataset (Sunil et al. 2022) collected from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Indian plantations. Generalization to genuinely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new Nepalese field images is unvalidated.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047875" y="180975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75489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8" name="Text 6"/>
          <p:cNvSpPr/>
          <p:nvPr/>
        </p:nvSpPr>
        <p:spPr>
          <a:xfrm>
            <a:off x="2000250" y="1903958"/>
            <a:ext cx="571500" cy="2714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138"/>
              </a:lnSpc>
            </a:pPr>
            <a:r>
              <a:rPr lang="en-US" sz="2025" dirty="0">
                <a:solidFill>
                  <a:srgbClr val="000000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1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86250" y="2047875"/>
            <a:ext cx="3619500" cy="2000250"/>
          </a:xfrm>
          <a:prstGeom prst="rect">
            <a:avLst/>
          </a:prstGeom>
          <a:solidFill>
            <a:srgbClr val="5583B6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10" name="Text 8"/>
          <p:cNvSpPr/>
          <p:nvPr/>
        </p:nvSpPr>
        <p:spPr>
          <a:xfrm>
            <a:off x="4572000" y="2437954"/>
            <a:ext cx="31432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Heuristic Severity Estimation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4572000" y="2693194"/>
            <a:ext cx="3261122" cy="7542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Severity module approximates lesion extent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from Grad-CAM activations, not validated lesion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boundaries. Outputs are explicitly marked as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heuristic.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857875" y="180975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16A97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13" name="Text 11"/>
          <p:cNvSpPr/>
          <p:nvPr/>
        </p:nvSpPr>
        <p:spPr>
          <a:xfrm>
            <a:off x="5810250" y="1903958"/>
            <a:ext cx="571500" cy="2714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138"/>
              </a:lnSpc>
            </a:pPr>
            <a:r>
              <a:rPr lang="en-US" sz="2025" dirty="0">
                <a:solidFill>
                  <a:srgbClr val="000000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2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096250" y="2047875"/>
            <a:ext cx="3619500" cy="2000250"/>
          </a:xfrm>
          <a:prstGeom prst="rect">
            <a:avLst/>
          </a:prstGeom>
          <a:solidFill>
            <a:srgbClr val="649CBF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15" name="Text 13"/>
          <p:cNvSpPr/>
          <p:nvPr/>
        </p:nvSpPr>
        <p:spPr>
          <a:xfrm>
            <a:off x="8382000" y="2437954"/>
            <a:ext cx="31432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Network Connectivity Dependency</a:t>
            </a:r>
            <a:endParaRPr lang="en-US" b="1" dirty="0"/>
          </a:p>
        </p:txBody>
      </p:sp>
      <p:sp>
        <p:nvSpPr>
          <p:cNvPr id="16" name="Text 14"/>
          <p:cNvSpPr/>
          <p:nvPr/>
        </p:nvSpPr>
        <p:spPr>
          <a:xfrm>
            <a:off x="8382000" y="2693194"/>
            <a:ext cx="3309342" cy="5656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Client-server architecture requires internet/LAN.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Remote Nepali areas have inconsistent mobile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network coverage.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667875" y="1809750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683AA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18" name="Text 16"/>
          <p:cNvSpPr/>
          <p:nvPr/>
        </p:nvSpPr>
        <p:spPr>
          <a:xfrm>
            <a:off x="9620250" y="1903958"/>
            <a:ext cx="571500" cy="2714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138"/>
              </a:lnSpc>
            </a:pPr>
            <a:r>
              <a:rPr lang="en-US" sz="2025" dirty="0">
                <a:solidFill>
                  <a:srgbClr val="000000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3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6250" y="4381500"/>
            <a:ext cx="5524500" cy="2000250"/>
          </a:xfrm>
          <a:prstGeom prst="rect">
            <a:avLst/>
          </a:prstGeom>
          <a:solidFill>
            <a:srgbClr val="72B4C7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20" name="Text 18"/>
          <p:cNvSpPr/>
          <p:nvPr/>
        </p:nvSpPr>
        <p:spPr>
          <a:xfrm>
            <a:off x="762000" y="4771579"/>
            <a:ext cx="50482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Blur Sensitivity</a:t>
            </a:r>
            <a:endParaRPr lang="en-US" b="1" dirty="0"/>
          </a:p>
        </p:txBody>
      </p:sp>
      <p:sp>
        <p:nvSpPr>
          <p:cNvPr id="21" name="Text 19"/>
          <p:cNvSpPr/>
          <p:nvPr/>
        </p:nvSpPr>
        <p:spPr>
          <a:xfrm>
            <a:off x="762000" y="5026819"/>
            <a:ext cx="5396657" cy="3771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26.09 pp accuracy degradation under blur radius 3. Smartphone cameras in the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field may produce blurry images.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000375" y="414337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DA1B8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23" name="Text 21"/>
          <p:cNvSpPr/>
          <p:nvPr/>
        </p:nvSpPr>
        <p:spPr>
          <a:xfrm>
            <a:off x="2952750" y="4237583"/>
            <a:ext cx="571500" cy="2714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138"/>
              </a:lnSpc>
            </a:pPr>
            <a:r>
              <a:rPr lang="en-US" sz="2025" dirty="0">
                <a:solidFill>
                  <a:srgbClr val="000000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4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191250" y="4381500"/>
            <a:ext cx="5524500" cy="2000250"/>
          </a:xfrm>
          <a:prstGeom prst="rect">
            <a:avLst/>
          </a:prstGeom>
          <a:solidFill>
            <a:srgbClr val="81CDD0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25" name="Text 23"/>
          <p:cNvSpPr/>
          <p:nvPr/>
        </p:nvSpPr>
        <p:spPr>
          <a:xfrm>
            <a:off x="6477000" y="4771579"/>
            <a:ext cx="5048250" cy="1960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44"/>
              </a:lnSpc>
            </a:pPr>
            <a:r>
              <a:rPr lang="en-US" sz="1463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No Formal User Study</a:t>
            </a:r>
            <a:endParaRPr lang="en-US" b="1" dirty="0"/>
          </a:p>
        </p:txBody>
      </p:sp>
      <p:sp>
        <p:nvSpPr>
          <p:cNvPr id="26" name="Text 24"/>
          <p:cNvSpPr/>
          <p:nvPr/>
        </p:nvSpPr>
        <p:spPr>
          <a:xfrm>
            <a:off x="6477000" y="5026819"/>
            <a:ext cx="5231457" cy="3771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85"/>
              </a:lnSpc>
              <a:spcBef>
                <a:spcPts val="458"/>
              </a:spcBef>
            </a:pP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Bilingual interface and system usability have not been evaluated with Nepali</a:t>
            </a:r>
            <a:b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125" kern="0" spc="22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farmers or extension workers.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715375" y="4143375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CBEC2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28" name="Text 26"/>
          <p:cNvSpPr/>
          <p:nvPr/>
        </p:nvSpPr>
        <p:spPr>
          <a:xfrm>
            <a:off x="8667750" y="4237583"/>
            <a:ext cx="571500" cy="2714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138"/>
              </a:lnSpc>
            </a:pPr>
            <a:r>
              <a:rPr lang="en-US" sz="2025" dirty="0">
                <a:solidFill>
                  <a:srgbClr val="000000">
                    <a:alpha val="8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79227"/>
            <a:ext cx="11334750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Future Work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107430"/>
            <a:ext cx="11334750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Eight Concrete Research and Development Directions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76250" y="2166938"/>
            <a:ext cx="2667000" cy="1881188"/>
          </a:xfrm>
          <a:prstGeom prst="rect">
            <a:avLst/>
          </a:prstGeom>
          <a:solidFill>
            <a:srgbClr val="5786B7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15" name="Text 11"/>
          <p:cNvSpPr/>
          <p:nvPr/>
        </p:nvSpPr>
        <p:spPr>
          <a:xfrm>
            <a:off x="762000" y="2678609"/>
            <a:ext cx="2190750" cy="3661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1"/>
              </a:lnSpc>
            </a:pP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Nepal-Specific Data</a:t>
            </a:r>
            <a:b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</a:b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Collection</a:t>
            </a:r>
            <a:endParaRPr lang="en-US" b="1" dirty="0"/>
          </a:p>
        </p:txBody>
      </p:sp>
      <p:sp>
        <p:nvSpPr>
          <p:cNvPr id="16" name="Text 12"/>
          <p:cNvSpPr/>
          <p:nvPr/>
        </p:nvSpPr>
        <p:spPr>
          <a:xfrm>
            <a:off x="762000" y="3100090"/>
            <a:ext cx="2273350" cy="5277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86"/>
              </a:lnSpc>
              <a:spcBef>
                <a:spcPts val="428"/>
              </a:spcBef>
            </a:pP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Collecting a dedicated dataset from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Nepali plantations to validate and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improve performance.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1452563" y="1809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26D99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18" name="Image 2" descr="-234db6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18" y="2041364"/>
            <a:ext cx="342900" cy="2571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333750" y="2166938"/>
            <a:ext cx="2667000" cy="1881188"/>
          </a:xfrm>
          <a:prstGeom prst="rect">
            <a:avLst/>
          </a:prstGeom>
          <a:solidFill>
            <a:srgbClr val="5F94BC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20" name="Text 15"/>
          <p:cNvSpPr/>
          <p:nvPr/>
        </p:nvSpPr>
        <p:spPr>
          <a:xfrm>
            <a:off x="3619500" y="2678609"/>
            <a:ext cx="2190750" cy="3661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1"/>
              </a:lnSpc>
            </a:pP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Pixel-Level Lesion</a:t>
            </a:r>
            <a:b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</a:b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Segmentation</a:t>
            </a:r>
            <a:endParaRPr lang="en-US" b="1" dirty="0"/>
          </a:p>
        </p:txBody>
      </p:sp>
      <p:sp>
        <p:nvSpPr>
          <p:cNvPr id="21" name="Text 16"/>
          <p:cNvSpPr/>
          <p:nvPr/>
        </p:nvSpPr>
        <p:spPr>
          <a:xfrm>
            <a:off x="3619500" y="3100090"/>
            <a:ext cx="2190750" cy="5277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86"/>
              </a:lnSpc>
              <a:spcBef>
                <a:spcPts val="428"/>
              </a:spcBef>
            </a:pP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Training a U-Net/Mask R-CNN on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annotated masks for validated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severity measurement.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4310063" y="1809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47BA4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23" name="Image 3" descr="38a8ca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747" y="2020435"/>
            <a:ext cx="295275" cy="29527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211434" y="2166938"/>
            <a:ext cx="2667000" cy="1881188"/>
          </a:xfrm>
          <a:prstGeom prst="rect">
            <a:avLst/>
          </a:prstGeom>
          <a:solidFill>
            <a:srgbClr val="68A3C1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25" name="Text 19"/>
          <p:cNvSpPr/>
          <p:nvPr/>
        </p:nvSpPr>
        <p:spPr>
          <a:xfrm>
            <a:off x="6497184" y="2678609"/>
            <a:ext cx="2221855" cy="3661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1"/>
              </a:lnSpc>
            </a:pP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Blur Detection &amp; Capture</a:t>
            </a:r>
            <a:b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</a:b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Guidance</a:t>
            </a:r>
            <a:endParaRPr lang="en-US" b="1" dirty="0"/>
          </a:p>
        </p:txBody>
      </p:sp>
      <p:sp>
        <p:nvSpPr>
          <p:cNvPr id="26" name="Text 20"/>
          <p:cNvSpPr/>
          <p:nvPr/>
        </p:nvSpPr>
        <p:spPr>
          <a:xfrm>
            <a:off x="6497184" y="3100090"/>
            <a:ext cx="2190750" cy="5277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86"/>
              </a:lnSpc>
              <a:spcBef>
                <a:spcPts val="428"/>
              </a:spcBef>
            </a:pP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Integrating real-time blur scoring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into the mobile app's capture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workflow.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7187747" y="18097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88CAE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28" name="Image 4" descr="-679c99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502" y="1999506"/>
            <a:ext cx="342900" cy="3429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333750" y="4500563"/>
            <a:ext cx="2667000" cy="1881188"/>
          </a:xfrm>
          <a:prstGeom prst="rect">
            <a:avLst/>
          </a:prstGeom>
          <a:solidFill>
            <a:srgbClr val="70B1C6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30" name="Text 23"/>
          <p:cNvSpPr/>
          <p:nvPr/>
        </p:nvSpPr>
        <p:spPr>
          <a:xfrm>
            <a:off x="3619500" y="5012234"/>
            <a:ext cx="2190750" cy="3661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1"/>
              </a:lnSpc>
            </a:pP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Uncertainty Threshold</a:t>
            </a:r>
            <a:b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</a:b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Calibration</a:t>
            </a:r>
            <a:endParaRPr lang="en-US" b="1" dirty="0"/>
          </a:p>
        </p:txBody>
      </p:sp>
      <p:sp>
        <p:nvSpPr>
          <p:cNvPr id="31" name="Text 24"/>
          <p:cNvSpPr/>
          <p:nvPr/>
        </p:nvSpPr>
        <p:spPr>
          <a:xfrm>
            <a:off x="3619500" y="5433715"/>
            <a:ext cx="2190750" cy="5277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86"/>
              </a:lnSpc>
              <a:spcBef>
                <a:spcPts val="428"/>
              </a:spcBef>
            </a:pP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Optimizing prediction confidence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thresholds for agricultural cost-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benefit trade-offs.</a:t>
            </a: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4310063" y="41433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C9DB7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33" name="Image 5" descr="1cba69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605" y="4328945"/>
            <a:ext cx="209550" cy="3429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191250" y="4500563"/>
            <a:ext cx="2667000" cy="1881188"/>
          </a:xfrm>
          <a:prstGeom prst="rect">
            <a:avLst/>
          </a:prstGeom>
          <a:solidFill>
            <a:srgbClr val="79BFCB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35" name="Text 27"/>
          <p:cNvSpPr/>
          <p:nvPr/>
        </p:nvSpPr>
        <p:spPr>
          <a:xfrm>
            <a:off x="6477000" y="5012234"/>
            <a:ext cx="2190750" cy="36611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1"/>
              </a:lnSpc>
            </a:pP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Extended Disease</a:t>
            </a:r>
            <a:b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</a:b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Taxonomy</a:t>
            </a:r>
            <a:endParaRPr lang="en-US" b="1" dirty="0"/>
          </a:p>
        </p:txBody>
      </p:sp>
      <p:sp>
        <p:nvSpPr>
          <p:cNvPr id="36" name="Text 28"/>
          <p:cNvSpPr/>
          <p:nvPr/>
        </p:nvSpPr>
        <p:spPr>
          <a:xfrm>
            <a:off x="6477000" y="5433715"/>
            <a:ext cx="2239417" cy="3518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86"/>
              </a:lnSpc>
              <a:spcBef>
                <a:spcPts val="428"/>
              </a:spcBef>
            </a:pP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Adding Katte, Chirke, and Chenthal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diseases to the classification.</a:t>
            </a:r>
            <a:endParaRPr lang="en-US" dirty="0"/>
          </a:p>
        </p:txBody>
      </p:sp>
      <p:sp>
        <p:nvSpPr>
          <p:cNvPr id="37" name="Shape 29"/>
          <p:cNvSpPr/>
          <p:nvPr/>
        </p:nvSpPr>
        <p:spPr>
          <a:xfrm>
            <a:off x="7167563" y="41433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4ADBD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38" name="Image 6" descr="-649681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388" y="4391732"/>
            <a:ext cx="381000" cy="228600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9048750" y="4500563"/>
            <a:ext cx="2667000" cy="1881188"/>
          </a:xfrm>
          <a:prstGeom prst="rect">
            <a:avLst/>
          </a:prstGeom>
          <a:solidFill>
            <a:srgbClr val="81CDD0"/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sp>
        <p:nvSpPr>
          <p:cNvPr id="40" name="Text 31"/>
          <p:cNvSpPr/>
          <p:nvPr/>
        </p:nvSpPr>
        <p:spPr>
          <a:xfrm>
            <a:off x="9334500" y="5012234"/>
            <a:ext cx="2190750" cy="18305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1"/>
              </a:lnSpc>
            </a:pPr>
            <a:r>
              <a:rPr lang="en-US" sz="1365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Audio Guidance in Nepali</a:t>
            </a:r>
            <a:endParaRPr lang="en-US" b="1" dirty="0"/>
          </a:p>
        </p:txBody>
      </p:sp>
      <p:sp>
        <p:nvSpPr>
          <p:cNvPr id="41" name="Text 32"/>
          <p:cNvSpPr/>
          <p:nvPr/>
        </p:nvSpPr>
        <p:spPr>
          <a:xfrm>
            <a:off x="9334500" y="5250656"/>
            <a:ext cx="2190750" cy="5277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86"/>
              </a:lnSpc>
              <a:spcBef>
                <a:spcPts val="428"/>
              </a:spcBef>
            </a:pP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Providing audio-format disease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identification for improved</a:t>
            </a:r>
            <a:b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</a:br>
            <a:r>
              <a:rPr lang="en-US" sz="1050" kern="0" spc="21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accessibility.</a:t>
            </a:r>
            <a:endParaRPr lang="en-US" dirty="0"/>
          </a:p>
        </p:txBody>
      </p:sp>
      <p:sp>
        <p:nvSpPr>
          <p:cNvPr id="42" name="Shape 33"/>
          <p:cNvSpPr/>
          <p:nvPr/>
        </p:nvSpPr>
        <p:spPr>
          <a:xfrm>
            <a:off x="10025063" y="41433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CBEC2"/>
            </a:solidFill>
            <a:prstDash val="solid"/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43" name="Image 7" descr="-7426221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633" y="4383360"/>
            <a:ext cx="3524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99" y="858292"/>
            <a:ext cx="5667375" cy="541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>
              <a:lnSpc>
                <a:spcPts val="4266"/>
              </a:lnSpc>
              <a:spcBef>
                <a:spcPts val="23"/>
              </a:spcBef>
            </a:pPr>
            <a:r>
              <a:rPr lang="en-US" sz="4688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Conclusion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999" y="1486495"/>
            <a:ext cx="5667376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From Research Model to Deployed, Interpretable, Bilingual Intelligent System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809750"/>
            <a:ext cx="447675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NP"/>
          </a:p>
        </p:txBody>
      </p:sp>
      <p:pic>
        <p:nvPicPr>
          <p:cNvPr id="5" name="Image 0" descr="a digital representation of an interconnected global network and artificial intelligence"/>
          <p:cNvPicPr>
            <a:picLocks noChangeAspect="1"/>
          </p:cNvPicPr>
          <p:nvPr/>
        </p:nvPicPr>
        <p:blipFill>
          <a:blip r:embed="rId3"/>
          <a:srcRect l="1042" r="1042"/>
          <a:stretch/>
        </p:blipFill>
        <p:spPr>
          <a:xfrm>
            <a:off x="-1295797" y="-1"/>
            <a:ext cx="6725047" cy="68681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999" y="2467868"/>
            <a:ext cx="5486401" cy="32609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59"/>
              </a:lnSpc>
              <a:buSzPct val="100000"/>
            </a:pPr>
            <a:r>
              <a:rPr lang="en-US" sz="195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Delivered</a:t>
            </a:r>
            <a:endParaRPr lang="en-US" b="1" dirty="0"/>
          </a:p>
          <a:p>
            <a:pPr marL="571500" lvl="1" algn="l">
              <a:lnSpc>
                <a:spcPts val="1980"/>
              </a:lnSpc>
              <a:spcBef>
                <a:spcPts val="464"/>
              </a:spcBef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 validated EfficientNetV2-S classifier (99.74% accuracy, 100% CV), Grad-CAM explainability, heuristic severity estimation, and a production-ready FastAPI backend.</a:t>
            </a:r>
            <a:endParaRPr lang="en-US" dirty="0"/>
          </a:p>
          <a:p>
            <a:pPr algn="l">
              <a:lnSpc>
                <a:spcPts val="2059"/>
              </a:lnSpc>
              <a:spcBef>
                <a:spcPts val="2072"/>
              </a:spcBef>
              <a:buSzPct val="100000"/>
            </a:pPr>
            <a:r>
              <a:rPr lang="en-US" sz="1950" b="1" dirty="0">
                <a:solidFill>
                  <a:srgbClr val="FFFFFF">
                    <a:alpha val="90000"/>
                  </a:srgbClr>
                </a:solidFill>
                <a:latin typeface="Source Sans Pro Semi Bold" pitchFamily="34" charset="0"/>
                <a:ea typeface="Source Sans Pro Semi Bold" pitchFamily="34" charset="-122"/>
                <a:cs typeface="Source Sans Pro Semi Bold" pitchFamily="34" charset="-120"/>
              </a:rPr>
              <a:t>Outcome</a:t>
            </a:r>
            <a:endParaRPr lang="en-US" b="1" dirty="0"/>
          </a:p>
          <a:p>
            <a:pPr marL="571500" lvl="1" algn="l">
              <a:lnSpc>
                <a:spcPts val="1980"/>
              </a:lnSpc>
              <a:spcBef>
                <a:spcPts val="464"/>
              </a:spcBef>
            </a:pPr>
            <a:r>
              <a:rPr lang="en-US" sz="1500" kern="0" spc="30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 robust foundation for a deployed, interpretable, bilingual agricultural AI system, addressing diagnostic, deployment, and language barriers for Nepali smallholder farmers.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8226-C2ED-0E69-0431-10D09B7F5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F5FA66-317B-7129-771D-2B85BD9BB5B1}"/>
              </a:ext>
            </a:extLst>
          </p:cNvPr>
          <p:cNvSpPr/>
          <p:nvPr/>
        </p:nvSpPr>
        <p:spPr>
          <a:xfrm>
            <a:off x="3262312" y="3048692"/>
            <a:ext cx="5667375" cy="127392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66"/>
              </a:lnSpc>
              <a:spcBef>
                <a:spcPts val="23"/>
              </a:spcBef>
            </a:pPr>
            <a:r>
              <a:rPr lang="en-US" sz="8800" kern="0" spc="47" dirty="0">
                <a:solidFill>
                  <a:srgbClr val="FFFFFF">
                    <a:alpha val="90000"/>
                  </a:srgbClr>
                </a:solidFill>
                <a:latin typeface="Bebas Neue Bold" pitchFamily="34" charset="0"/>
                <a:ea typeface="Bebas Neue Bold" pitchFamily="34" charset="-122"/>
                <a:cs typeface="Bebas Neue Bold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858A72-9AE9-9C73-41B8-6624F13F87D5}"/>
              </a:ext>
            </a:extLst>
          </p:cNvPr>
          <p:cNvSpPr/>
          <p:nvPr/>
        </p:nvSpPr>
        <p:spPr>
          <a:xfrm>
            <a:off x="3262312" y="3685654"/>
            <a:ext cx="5667376" cy="276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78"/>
              </a:lnSpc>
              <a:spcBef>
                <a:spcPts val="668"/>
              </a:spcBef>
            </a:pPr>
            <a:r>
              <a:rPr lang="en-US" sz="1650" kern="0" spc="33" dirty="0">
                <a:solidFill>
                  <a:srgbClr val="FFFFFF">
                    <a:alpha val="80000"/>
                  </a:srgbClr>
                </a:solidFill>
                <a:latin typeface="Source Sans Pro Regular" pitchFamily="34" charset="0"/>
                <a:ea typeface="Source Sans Pro Regular" pitchFamily="34" charset="-122"/>
                <a:cs typeface="Source Sans Pro Regular" pitchFamily="34" charset="-120"/>
              </a:rPr>
              <a:t>Any Question?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62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083F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1576</Words>
  <Application>Microsoft Macintosh PowerPoint</Application>
  <PresentationFormat>Widescreen</PresentationFormat>
  <Paragraphs>277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Bebas Neue Bold</vt:lpstr>
      <vt:lpstr>Source Sans Pro Black</vt:lpstr>
      <vt:lpstr>Source Sans Pro Regular</vt:lpstr>
      <vt:lpstr>Source Sans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Darpan Subedi</cp:lastModifiedBy>
  <cp:revision>10</cp:revision>
  <dcterms:created xsi:type="dcterms:W3CDTF">2026-06-02T08:38:25Z</dcterms:created>
  <dcterms:modified xsi:type="dcterms:W3CDTF">2026-06-20T02:07:54Z</dcterms:modified>
</cp:coreProperties>
</file>